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17" r:id="rId5"/>
    <p:sldId id="320" r:id="rId6"/>
    <p:sldId id="319" r:id="rId7"/>
    <p:sldId id="307" r:id="rId8"/>
    <p:sldId id="318" r:id="rId9"/>
    <p:sldId id="308" r:id="rId10"/>
    <p:sldId id="278" r:id="rId11"/>
    <p:sldId id="309" r:id="rId12"/>
    <p:sldId id="263" r:id="rId13"/>
    <p:sldId id="322" r:id="rId14"/>
    <p:sldId id="310" r:id="rId15"/>
    <p:sldId id="321" r:id="rId16"/>
    <p:sldId id="315" r:id="rId17"/>
    <p:sldId id="311" r:id="rId18"/>
    <p:sldId id="323" r:id="rId19"/>
    <p:sldId id="312" r:id="rId20"/>
    <p:sldId id="324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B614-E18A-54D7-515F-205AFEAC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8BFA3-9B49-923B-ED6E-9F4685DF6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27899-AF04-ECFE-00D2-0AE7C04F1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C2729-594E-E56C-0F2E-E2B4BE679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4917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ublicdomainpictures.net/en/view-image.php?image=80234&amp;picture=thank-you-te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pPr algn="l"/>
            <a:r>
              <a:rPr lang="en-IN" dirty="0"/>
              <a:t>COVID-19 Detection from Chest X-Ray Images Using CNN and VGG16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                                                                 </a:t>
            </a:r>
            <a:br>
              <a:rPr lang="en-IN" dirty="0"/>
            </a:br>
            <a:r>
              <a:rPr lang="en-IN" dirty="0"/>
              <a:t>                                                                         </a:t>
            </a:r>
            <a:r>
              <a:rPr lang="en-IN" sz="2000" dirty="0"/>
              <a:t>Name : S. Hasini 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                                                                                               Roll No:2520030287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                                                                                     Name : S. Vaibhava  Sree                         </a:t>
            </a:r>
            <a:br>
              <a:rPr lang="en-IN" sz="2000" dirty="0"/>
            </a:br>
            <a:r>
              <a:rPr lang="en-IN" sz="2000" dirty="0"/>
              <a:t>                                                                                                                                                                    Roll No:2520030398</a:t>
            </a: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D7B258-6E50-6764-4ED6-295A2EF9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663" y="2751128"/>
            <a:ext cx="1827847" cy="2249658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FB4622F3-104F-CDA4-E748-B7FCEFEC7ECF}"/>
              </a:ext>
            </a:extLst>
          </p:cNvPr>
          <p:cNvGrpSpPr/>
          <p:nvPr/>
        </p:nvGrpSpPr>
        <p:grpSpPr>
          <a:xfrm>
            <a:off x="1419587" y="2751128"/>
            <a:ext cx="4249694" cy="2294430"/>
            <a:chOff x="0" y="0"/>
            <a:chExt cx="658389" cy="355467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58BFB81-90D9-EC41-2204-8543FF18CB44}"/>
                </a:ext>
              </a:extLst>
            </p:cNvPr>
            <p:cNvSpPr/>
            <p:nvPr/>
          </p:nvSpPr>
          <p:spPr>
            <a:xfrm>
              <a:off x="0" y="0"/>
              <a:ext cx="658389" cy="355467"/>
            </a:xfrm>
            <a:custGeom>
              <a:avLst/>
              <a:gdLst/>
              <a:ahLst/>
              <a:cxnLst/>
              <a:rect l="l" t="t" r="r" b="b"/>
              <a:pathLst>
                <a:path w="658389" h="355467">
                  <a:moveTo>
                    <a:pt x="0" y="0"/>
                  </a:moveTo>
                  <a:lnTo>
                    <a:pt x="658389" y="0"/>
                  </a:lnTo>
                  <a:lnTo>
                    <a:pt x="658389" y="355467"/>
                  </a:lnTo>
                  <a:lnTo>
                    <a:pt x="0" y="355467"/>
                  </a:lnTo>
                  <a:close/>
                </a:path>
              </a:pathLst>
            </a:custGeom>
            <a:blipFill>
              <a:blip r:embed="rId4"/>
              <a:stretch>
                <a:fillRect t="-471" b="-47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6F73-BA4E-510A-2E7A-5B05E38E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391886"/>
            <a:ext cx="6241972" cy="733011"/>
          </a:xfrm>
        </p:spPr>
        <p:txBody>
          <a:bodyPr/>
          <a:lstStyle/>
          <a:p>
            <a:pPr algn="l"/>
            <a:r>
              <a:rPr lang="en-US" dirty="0"/>
              <a:t>Literature Survey: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ECF30-81DD-3BF1-1F6A-B2544E7D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51" y="1589243"/>
            <a:ext cx="10963470" cy="41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7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287D20-1967-88C2-15C0-BBF9C57D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4" y="494522"/>
            <a:ext cx="11486157" cy="566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9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859" y="192505"/>
            <a:ext cx="6947784" cy="818148"/>
          </a:xfrm>
        </p:spPr>
        <p:txBody>
          <a:bodyPr/>
          <a:lstStyle/>
          <a:p>
            <a:r>
              <a:rPr lang="en-US" dirty="0"/>
              <a:t>Introduction: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A14FE49-30F6-B706-4778-337EC7D44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221" y="1189703"/>
            <a:ext cx="11372818" cy="5280947"/>
          </a:xfrm>
        </p:spPr>
        <p:txBody>
          <a:bodyPr/>
          <a:lstStyle/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COVID-19 is a global pandemic affecting millions worldwide.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Early detection is critical to reduce spread and improve treatment outcomes.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RT-PCR tests are accurate but slow, costly, and limited in availability.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Chest X-rays are widely available, fast, and cost-effective diagnostic tools.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Manual diagnosis can be time-consuming and prone to human error.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Deep Learning enables automated detection of disease patterns.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CNNs are powerful for medical image classification tasks.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Transfer Learning (VGG16) reduces training time and improves efficiency.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Goal :Build a reliable AI system to assist doctors in rapid COVID-19 screening.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FE8ADF-7ACB-4B4D-B3CB-C7CBDFAF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14" y="0"/>
            <a:ext cx="8610844" cy="1331495"/>
          </a:xfrm>
        </p:spPr>
        <p:txBody>
          <a:bodyPr/>
          <a:lstStyle/>
          <a:p>
            <a:r>
              <a:rPr lang="en-US" dirty="0"/>
              <a:t>Problem Statement &amp; objectives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EEE58-B2C5-82C5-6E6F-1F5FE87F9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452" y="1229032"/>
            <a:ext cx="11248103" cy="5320277"/>
          </a:xfrm>
        </p:spPr>
        <p:txBody>
          <a:bodyPr>
            <a:normAutofit fontScale="92500"/>
          </a:bodyPr>
          <a:lstStyle/>
          <a:p>
            <a:pPr algn="l"/>
            <a:r>
              <a:rPr lang="en-IN" b="1" dirty="0"/>
              <a:t>Problem Statement: </a:t>
            </a:r>
            <a:r>
              <a:rPr lang="en-IN" dirty="0"/>
              <a:t>Develop an automated deep learning system that can detect COVID-19 from chest X-ray images accurately, efficiently, and with minimal human intervention.</a:t>
            </a:r>
          </a:p>
          <a:p>
            <a:pPr algn="l"/>
            <a:r>
              <a:rPr lang="en-IN" b="1" dirty="0"/>
              <a:t>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Automate detection of COVID-19 cases from chest X-ray images.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Classify images into three categories: COVID-19, Pneumonia, and Normal.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Reduce dependency on manual diagnosis and expert radiologists.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Use VGG16 transfer learning to minimize training time and computational cost.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Achieve high accuracy, precision, recall, and F1-score for reliable performance.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Provide a supportive tool for doctors and healthcare professionals.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Enable faster preliminary screening in hospitals and clinics.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Improve scalability for large datasets and real-world deployment.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/>
              <a:t>Lay the foundation for mobile/web applications for real-time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09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216311"/>
            <a:ext cx="3451121" cy="639096"/>
          </a:xfrm>
        </p:spPr>
        <p:txBody>
          <a:bodyPr/>
          <a:lstStyle/>
          <a:p>
            <a:r>
              <a:rPr lang="en-US" dirty="0"/>
              <a:t>Datasets: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A8C8E-21AB-D10D-694B-F96CE900F3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123" y="1258529"/>
            <a:ext cx="11307096" cy="5212122"/>
          </a:xfrm>
        </p:spPr>
        <p:txBody>
          <a:bodyPr/>
          <a:lstStyle/>
          <a:p>
            <a:pPr lvl="0" algn="l"/>
            <a:r>
              <a:rPr lang="en-IN" b="1" dirty="0"/>
              <a:t>Sources: </a:t>
            </a:r>
            <a:r>
              <a:rPr lang="en-IN" dirty="0"/>
              <a:t>COVIDx dataset, Kaggle chest X-ray dataset, NIH dataset.</a:t>
            </a:r>
          </a:p>
          <a:p>
            <a:pPr lvl="0" algn="l"/>
            <a:r>
              <a:rPr lang="en-IN" b="1" dirty="0"/>
              <a:t>Classes:</a:t>
            </a:r>
            <a:r>
              <a:rPr lang="en-IN" dirty="0"/>
              <a:t> Three categories – COVID-19, Pneumonia, Normal.</a:t>
            </a:r>
          </a:p>
          <a:p>
            <a:pPr lvl="0" algn="l"/>
            <a:r>
              <a:rPr lang="en-IN" b="1" dirty="0"/>
              <a:t>Size:</a:t>
            </a:r>
            <a:r>
              <a:rPr lang="en-IN" dirty="0"/>
              <a:t> Thousands of labelled chest X-ray images collected from multiple hospitals.</a:t>
            </a:r>
          </a:p>
          <a:p>
            <a:pPr lvl="0" algn="l"/>
            <a:r>
              <a:rPr lang="en-IN" b="1" dirty="0"/>
              <a:t>Features:</a:t>
            </a:r>
            <a:r>
              <a:rPr lang="en-IN" dirty="0"/>
              <a:t> Lung opacity, lesions, infiltrates, abnormal textures, and structural changes.</a:t>
            </a:r>
          </a:p>
          <a:p>
            <a:pPr lvl="0" algn="l"/>
            <a:r>
              <a:rPr lang="en-IN" b="1" dirty="0"/>
              <a:t>Diversity:</a:t>
            </a:r>
            <a:r>
              <a:rPr lang="en-IN" dirty="0"/>
              <a:t> Images from different patients, age groups, and genders.</a:t>
            </a:r>
          </a:p>
          <a:p>
            <a:pPr lvl="0" algn="l"/>
            <a:r>
              <a:rPr lang="en-IN" b="1" dirty="0"/>
              <a:t>Preprocessing:</a:t>
            </a:r>
            <a:r>
              <a:rPr lang="en-IN" dirty="0"/>
              <a:t> Images resized to 224×224 pixels for VGG16 input.</a:t>
            </a:r>
          </a:p>
          <a:p>
            <a:pPr lvl="0" algn="l"/>
            <a:r>
              <a:rPr lang="en-IN" b="1" dirty="0"/>
              <a:t>Normalization:</a:t>
            </a:r>
            <a:r>
              <a:rPr lang="en-IN" dirty="0"/>
              <a:t> Pixel values scaled to improve training stability.</a:t>
            </a:r>
          </a:p>
          <a:p>
            <a:pPr lvl="0" algn="l"/>
            <a:r>
              <a:rPr lang="en-IN" b="1" dirty="0"/>
              <a:t>Augmentation:</a:t>
            </a:r>
            <a:r>
              <a:rPr lang="en-IN" dirty="0"/>
              <a:t> Rotation, flipping, zooming, brightness adjustment to balance dataset.</a:t>
            </a:r>
          </a:p>
          <a:p>
            <a:pPr lvl="0" algn="l"/>
            <a:r>
              <a:rPr lang="en-IN" b="1" dirty="0"/>
              <a:t>Split:</a:t>
            </a:r>
            <a:r>
              <a:rPr lang="en-IN" dirty="0"/>
              <a:t> Training(70%), validation(15%), and test (15%) sets created for robust evaluation.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B80F674-498D-2150-4820-1769FA17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37160"/>
            <a:ext cx="7802880" cy="624840"/>
          </a:xfrm>
        </p:spPr>
        <p:txBody>
          <a:bodyPr/>
          <a:lstStyle/>
          <a:p>
            <a:r>
              <a:rPr lang="en-US" dirty="0"/>
              <a:t>Proposed Methodology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F9072C-7234-100A-EE6D-38323142DA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9120" y="762000"/>
            <a:ext cx="11003280" cy="5708651"/>
          </a:xfrm>
        </p:spPr>
        <p:txBody>
          <a:bodyPr/>
          <a:lstStyle/>
          <a:p>
            <a:pPr algn="l"/>
            <a:r>
              <a:rPr lang="en-IN" b="1" dirty="0"/>
              <a:t>           Dataset Collection</a:t>
            </a:r>
            <a:r>
              <a:rPr lang="en-IN" dirty="0"/>
              <a:t> </a:t>
            </a:r>
          </a:p>
          <a:p>
            <a:pPr algn="l"/>
            <a:r>
              <a:rPr lang="en-IN" dirty="0"/>
              <a:t>                         </a:t>
            </a:r>
            <a:r>
              <a:rPr lang="en-IN" sz="1800" dirty="0"/>
              <a:t>⬇️</a:t>
            </a:r>
          </a:p>
          <a:p>
            <a:pPr algn="l"/>
            <a:r>
              <a:rPr lang="en-IN" sz="1800" b="1" dirty="0"/>
              <a:t>   Image Preprocessing (Resize 224×224, Normalize)</a:t>
            </a:r>
          </a:p>
          <a:p>
            <a:pPr algn="l"/>
            <a:r>
              <a:rPr lang="en-IN" sz="1800" b="1" dirty="0"/>
              <a:t>                                 </a:t>
            </a:r>
            <a:r>
              <a:rPr lang="en-IN" sz="1800" dirty="0"/>
              <a:t>⬇️</a:t>
            </a:r>
          </a:p>
          <a:p>
            <a:pPr algn="l"/>
            <a:r>
              <a:rPr lang="en-IN" sz="1800" b="1" dirty="0"/>
              <a:t>    Data Augmentation (Rotation, Flip, Zoom)</a:t>
            </a:r>
            <a:r>
              <a:rPr lang="en-IN" sz="1800" dirty="0"/>
              <a:t> </a:t>
            </a:r>
          </a:p>
          <a:p>
            <a:pPr algn="l"/>
            <a:r>
              <a:rPr lang="en-IN" sz="1800" dirty="0"/>
              <a:t>                                 ⬇️</a:t>
            </a:r>
          </a:p>
          <a:p>
            <a:pPr algn="l"/>
            <a:r>
              <a:rPr lang="en-IN" sz="1800" dirty="0"/>
              <a:t>   </a:t>
            </a:r>
            <a:r>
              <a:rPr lang="en-IN" sz="1800" b="1" dirty="0"/>
              <a:t>Transfer Learning (VGG16 Pre‑trained Model) </a:t>
            </a:r>
          </a:p>
          <a:p>
            <a:pPr algn="l"/>
            <a:r>
              <a:rPr lang="en-IN" sz="1800" dirty="0"/>
              <a:t>                                 ⬇️</a:t>
            </a:r>
          </a:p>
          <a:p>
            <a:pPr algn="l"/>
            <a:r>
              <a:rPr lang="en-IN" sz="1800" dirty="0"/>
              <a:t>   </a:t>
            </a:r>
            <a:r>
              <a:rPr lang="en-IN" sz="1800" b="1" dirty="0"/>
              <a:t>Feature Extraction (Convolution Layers)</a:t>
            </a:r>
            <a:r>
              <a:rPr lang="en-IN" sz="1800" dirty="0"/>
              <a:t> </a:t>
            </a:r>
          </a:p>
          <a:p>
            <a:pPr algn="l"/>
            <a:r>
              <a:rPr lang="en-IN" sz="1800" dirty="0"/>
              <a:t>                                 ⬇️</a:t>
            </a:r>
          </a:p>
          <a:p>
            <a:pPr algn="l"/>
            <a:r>
              <a:rPr lang="en-IN" sz="1800" dirty="0"/>
              <a:t>   </a:t>
            </a:r>
            <a:r>
              <a:rPr lang="en-IN" sz="1800" b="1" dirty="0"/>
              <a:t>Model Training (Fine‑tuning, Adam Optimizer)</a:t>
            </a:r>
            <a:r>
              <a:rPr lang="en-IN" sz="1800" dirty="0"/>
              <a:t> </a:t>
            </a:r>
          </a:p>
          <a:p>
            <a:pPr algn="l"/>
            <a:r>
              <a:rPr lang="en-IN" sz="1800" dirty="0"/>
              <a:t>                                 ⬇️</a:t>
            </a:r>
          </a:p>
          <a:p>
            <a:pPr algn="l"/>
            <a:r>
              <a:rPr lang="en-IN" sz="1800" dirty="0"/>
              <a:t>   </a:t>
            </a:r>
            <a:r>
              <a:rPr lang="en-IN" sz="1800" b="1" dirty="0"/>
              <a:t>Model Evaluation (Accuracy, Precision, Recall, F1‑Score)</a:t>
            </a:r>
            <a:r>
              <a:rPr lang="en-IN" sz="1800" dirty="0"/>
              <a:t> </a:t>
            </a:r>
          </a:p>
          <a:p>
            <a:pPr algn="l"/>
            <a:r>
              <a:rPr lang="en-IN" sz="1800" dirty="0"/>
              <a:t>                                 ⬇️ </a:t>
            </a:r>
          </a:p>
          <a:p>
            <a:pPr algn="l"/>
            <a:r>
              <a:rPr lang="en-IN" sz="1800" b="1" dirty="0"/>
              <a:t>    Prediction (COVID‑19 / Pneumonia / Normal)</a:t>
            </a:r>
            <a:endParaRPr lang="en-IN" sz="1800" dirty="0"/>
          </a:p>
          <a:p>
            <a:pPr algn="l"/>
            <a:endParaRPr lang="en-IN" sz="18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7F7BBC-9BF8-3C8C-2B7A-90D1890A7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08" y="1737360"/>
            <a:ext cx="4652003" cy="22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304801"/>
            <a:ext cx="1334729" cy="530941"/>
          </a:xfrm>
        </p:spPr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1948" y="1150374"/>
            <a:ext cx="10741483" cy="5170215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7200" b="1" dirty="0"/>
              <a:t>Class Distribution Bar Chart</a:t>
            </a:r>
            <a:endParaRPr lang="en-IN" sz="7200" dirty="0"/>
          </a:p>
          <a:p>
            <a:pPr lvl="1"/>
            <a:r>
              <a:rPr lang="en-IN" sz="7200" dirty="0"/>
              <a:t>X‑axis: Classes (COVID‑19, Pneumonia, Normal)</a:t>
            </a:r>
          </a:p>
          <a:p>
            <a:pPr lvl="1"/>
            <a:r>
              <a:rPr lang="en-IN" sz="7200" dirty="0"/>
              <a:t>Y‑axis: Number of images</a:t>
            </a:r>
          </a:p>
          <a:p>
            <a:pPr lvl="1"/>
            <a:r>
              <a:rPr lang="en-IN" sz="7200" dirty="0"/>
              <a:t>Shows dataset imbalance (if any).</a:t>
            </a:r>
          </a:p>
          <a:p>
            <a:pPr lvl="0"/>
            <a:r>
              <a:rPr lang="en-IN" sz="7200" b="1" dirty="0"/>
              <a:t>Pie Chart of Dataset Split</a:t>
            </a:r>
            <a:endParaRPr lang="en-IN" sz="7200" dirty="0"/>
          </a:p>
          <a:p>
            <a:pPr lvl="1"/>
            <a:r>
              <a:rPr lang="en-IN" sz="7200" dirty="0"/>
              <a:t>Training vs Validation vs Test percentages.</a:t>
            </a:r>
          </a:p>
          <a:p>
            <a:pPr lvl="1"/>
            <a:r>
              <a:rPr lang="en-IN" sz="7200" dirty="0"/>
              <a:t>Clear visual of how data is divided.</a:t>
            </a:r>
          </a:p>
          <a:p>
            <a:pPr lvl="0"/>
            <a:r>
              <a:rPr lang="en-IN" sz="7200" b="1" dirty="0"/>
              <a:t>Sample Chest X‑Ray Images</a:t>
            </a:r>
            <a:endParaRPr lang="en-IN" sz="7200" dirty="0"/>
          </a:p>
          <a:p>
            <a:pPr lvl="1"/>
            <a:r>
              <a:rPr lang="en-IN" sz="7200" dirty="0"/>
              <a:t>One example each: COVID‑19, Pneumonia, Normal.</a:t>
            </a:r>
          </a:p>
          <a:p>
            <a:pPr lvl="1"/>
            <a:r>
              <a:rPr lang="en-IN" sz="7200" dirty="0"/>
              <a:t>Helps audience see differences in lung opacity.</a:t>
            </a:r>
          </a:p>
          <a:p>
            <a:pPr lvl="0"/>
            <a:r>
              <a:rPr lang="en-IN" sz="7200" b="1" dirty="0"/>
              <a:t>Histogram of Pixel Intensity</a:t>
            </a:r>
            <a:endParaRPr lang="en-IN" sz="7200" dirty="0"/>
          </a:p>
          <a:p>
            <a:pPr lvl="1"/>
            <a:r>
              <a:rPr lang="en-IN" sz="7200" dirty="0"/>
              <a:t>Distribution of grayscale values.</a:t>
            </a:r>
          </a:p>
          <a:p>
            <a:pPr lvl="1"/>
            <a:r>
              <a:rPr lang="en-IN" sz="7200" dirty="0"/>
              <a:t>Shows preprocessing need (normalization).</a:t>
            </a:r>
          </a:p>
          <a:p>
            <a:pPr lvl="0"/>
            <a:r>
              <a:rPr lang="en-IN" sz="7200" b="1" dirty="0"/>
              <a:t>Augmentation Examples</a:t>
            </a:r>
            <a:endParaRPr lang="en-IN" sz="7200" dirty="0"/>
          </a:p>
          <a:p>
            <a:pPr lvl="1"/>
            <a:r>
              <a:rPr lang="en-IN" sz="7200" dirty="0"/>
              <a:t>Original image vs rotated/flipped/zoomed versions.</a:t>
            </a:r>
          </a:p>
          <a:p>
            <a:pPr lvl="1"/>
            <a:r>
              <a:rPr lang="en-IN" sz="7200" dirty="0"/>
              <a:t>Demonstrates how dataset diversity is increased.</a:t>
            </a:r>
          </a:p>
          <a:p>
            <a:pPr lvl="0"/>
            <a:r>
              <a:rPr lang="en-IN" sz="7200" b="1" dirty="0"/>
              <a:t>Heatmap (Optional)</a:t>
            </a:r>
            <a:endParaRPr lang="en-IN" sz="7200" dirty="0"/>
          </a:p>
          <a:p>
            <a:pPr lvl="1"/>
            <a:r>
              <a:rPr lang="en-IN" sz="7200" dirty="0"/>
              <a:t>Correlation between features (if extracted).</a:t>
            </a:r>
          </a:p>
          <a:p>
            <a:pPr lvl="1"/>
            <a:r>
              <a:rPr lang="en-IN" sz="7200" dirty="0"/>
              <a:t>Adds depth to your analysis.</a:t>
            </a:r>
          </a:p>
          <a:p>
            <a:pPr lvl="0"/>
            <a:endParaRPr lang="en-IN" sz="8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BA39C-F62B-B798-097D-107126C9C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640" y="304801"/>
            <a:ext cx="4178160" cy="2497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05BB95-6283-85FE-DAA5-8C02D5D54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096" y="3221255"/>
            <a:ext cx="4696956" cy="29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334298"/>
            <a:ext cx="6046839" cy="688257"/>
          </a:xfrm>
        </p:spPr>
        <p:txBody>
          <a:bodyPr anchor="b"/>
          <a:lstStyle/>
          <a:p>
            <a:pPr algn="l"/>
            <a:r>
              <a:rPr lang="en-US" dirty="0"/>
              <a:t>Model Architecture: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B8AF6-C56F-941A-90DF-38DAB97C2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3" y="1657350"/>
            <a:ext cx="11045748" cy="466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A42C0-9F5D-5DDB-F841-3D111B5A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0EF37F1C-B8A2-BAE6-10E4-DCEF1F02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334298"/>
            <a:ext cx="6046839" cy="688257"/>
          </a:xfrm>
        </p:spPr>
        <p:txBody>
          <a:bodyPr anchor="b"/>
          <a:lstStyle/>
          <a:p>
            <a:pPr algn="l"/>
            <a:r>
              <a:rPr lang="en-US" dirty="0"/>
              <a:t>Model Architecture: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496CB2-F553-D469-C47E-50C393C56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99920"/>
            <a:ext cx="5821678" cy="3881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9DC0E8-C984-07BD-05EA-604E46AC3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899919"/>
            <a:ext cx="5255260" cy="38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1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A4EDA77-83C5-D1FE-78C3-AD933224A498}"/>
              </a:ext>
            </a:extLst>
          </p:cNvPr>
          <p:cNvSpPr/>
          <p:nvPr/>
        </p:nvSpPr>
        <p:spPr>
          <a:xfrm>
            <a:off x="1005840" y="1054457"/>
            <a:ext cx="4249694" cy="2294430"/>
          </a:xfrm>
          <a:custGeom>
            <a:avLst/>
            <a:gdLst/>
            <a:ahLst/>
            <a:cxnLst/>
            <a:rect l="l" t="t" r="r" b="b"/>
            <a:pathLst>
              <a:path w="658389" h="355467">
                <a:moveTo>
                  <a:pt x="0" y="0"/>
                </a:moveTo>
                <a:lnTo>
                  <a:pt x="658389" y="0"/>
                </a:lnTo>
                <a:lnTo>
                  <a:pt x="658389" y="355467"/>
                </a:lnTo>
                <a:lnTo>
                  <a:pt x="0" y="355467"/>
                </a:lnTo>
                <a:close/>
              </a:path>
            </a:pathLst>
          </a:custGeom>
          <a:blipFill>
            <a:blip r:embed="rId3"/>
            <a:stretch>
              <a:fillRect t="-471" b="-471"/>
            </a:stretch>
          </a:blipFill>
        </p:spPr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7B30B01F-CFC0-475B-C60C-1B08AA232303}"/>
              </a:ext>
            </a:extLst>
          </p:cNvPr>
          <p:cNvGrpSpPr/>
          <p:nvPr/>
        </p:nvGrpSpPr>
        <p:grpSpPr>
          <a:xfrm>
            <a:off x="6278606" y="1054457"/>
            <a:ext cx="4249694" cy="2294430"/>
            <a:chOff x="0" y="0"/>
            <a:chExt cx="658389" cy="355467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7A632DD0-8983-F6DC-717B-1F0DD0E8BD95}"/>
                </a:ext>
              </a:extLst>
            </p:cNvPr>
            <p:cNvSpPr/>
            <p:nvPr/>
          </p:nvSpPr>
          <p:spPr>
            <a:xfrm>
              <a:off x="0" y="0"/>
              <a:ext cx="658389" cy="355467"/>
            </a:xfrm>
            <a:custGeom>
              <a:avLst/>
              <a:gdLst/>
              <a:ahLst/>
              <a:cxnLst/>
              <a:rect l="l" t="t" r="r" b="b"/>
              <a:pathLst>
                <a:path w="658389" h="355467">
                  <a:moveTo>
                    <a:pt x="0" y="0"/>
                  </a:moveTo>
                  <a:lnTo>
                    <a:pt x="658389" y="0"/>
                  </a:lnTo>
                  <a:lnTo>
                    <a:pt x="658389" y="355467"/>
                  </a:lnTo>
                  <a:lnTo>
                    <a:pt x="0" y="355467"/>
                  </a:lnTo>
                  <a:close/>
                </a:path>
              </a:pathLst>
            </a:custGeom>
            <a:blipFill>
              <a:blip r:embed="rId4"/>
              <a:stretch>
                <a:fillRect t="-471" b="-471"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DFBC7E9D-F1E6-24B0-88FA-2E7ADC529E15}"/>
              </a:ext>
            </a:extLst>
          </p:cNvPr>
          <p:cNvGrpSpPr/>
          <p:nvPr/>
        </p:nvGrpSpPr>
        <p:grpSpPr>
          <a:xfrm>
            <a:off x="1005840" y="3792530"/>
            <a:ext cx="4249694" cy="2294430"/>
            <a:chOff x="0" y="0"/>
            <a:chExt cx="658389" cy="355467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AFAF42-1DD9-8407-7526-16734DC172FA}"/>
                </a:ext>
              </a:extLst>
            </p:cNvPr>
            <p:cNvSpPr/>
            <p:nvPr/>
          </p:nvSpPr>
          <p:spPr>
            <a:xfrm>
              <a:off x="0" y="0"/>
              <a:ext cx="658389" cy="355467"/>
            </a:xfrm>
            <a:custGeom>
              <a:avLst/>
              <a:gdLst/>
              <a:ahLst/>
              <a:cxnLst/>
              <a:rect l="l" t="t" r="r" b="b"/>
              <a:pathLst>
                <a:path w="658389" h="355467">
                  <a:moveTo>
                    <a:pt x="0" y="0"/>
                  </a:moveTo>
                  <a:lnTo>
                    <a:pt x="658389" y="0"/>
                  </a:lnTo>
                  <a:lnTo>
                    <a:pt x="658389" y="355467"/>
                  </a:lnTo>
                  <a:lnTo>
                    <a:pt x="0" y="355467"/>
                  </a:lnTo>
                  <a:close/>
                </a:path>
              </a:pathLst>
            </a:custGeom>
            <a:blipFill>
              <a:blip r:embed="rId5"/>
              <a:stretch>
                <a:fillRect t="-471" b="-471"/>
              </a:stretch>
            </a:blipFill>
          </p:spPr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F3B9EA-3DE5-E466-5A20-A0669C40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2" y="205274"/>
            <a:ext cx="10938650" cy="6531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4340-3909-4B28-2144-493A1BDF5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387350"/>
            <a:ext cx="2519680" cy="618490"/>
          </a:xfrm>
        </p:spPr>
        <p:txBody>
          <a:bodyPr/>
          <a:lstStyle/>
          <a:p>
            <a:r>
              <a:rPr lang="en-US" dirty="0"/>
              <a:t>Result: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02DE8-A736-C181-CAD9-C73D144B61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539" y="1660849"/>
            <a:ext cx="11204821" cy="4809802"/>
          </a:xfrm>
        </p:spPr>
        <p:txBody>
          <a:bodyPr>
            <a:normAutofit fontScale="92500"/>
          </a:bodyPr>
          <a:lstStyle/>
          <a:p>
            <a:pPr lvl="0" algn="l"/>
            <a:r>
              <a:rPr lang="en-IN" sz="2200" b="1" dirty="0"/>
              <a:t>Training Accuracy:</a:t>
            </a:r>
            <a:r>
              <a:rPr lang="en-IN" sz="2200" dirty="0"/>
              <a:t> Achieved </a:t>
            </a:r>
            <a:r>
              <a:rPr lang="en-IN" sz="2200" b="1" dirty="0"/>
              <a:t>94.3%</a:t>
            </a:r>
            <a:r>
              <a:rPr lang="en-IN" sz="2200" dirty="0"/>
              <a:t>, showing strong learning capability.</a:t>
            </a:r>
          </a:p>
          <a:p>
            <a:pPr lvl="0" algn="l"/>
            <a:r>
              <a:rPr lang="en-IN" sz="2200" b="1" dirty="0"/>
              <a:t>Validation Accuracy:</a:t>
            </a:r>
            <a:r>
              <a:rPr lang="en-IN" sz="2200" dirty="0"/>
              <a:t> Stabilized at </a:t>
            </a:r>
            <a:r>
              <a:rPr lang="en-IN" sz="2200" b="1" dirty="0"/>
              <a:t>92%</a:t>
            </a:r>
            <a:r>
              <a:rPr lang="en-IN" sz="2200" dirty="0"/>
              <a:t>, confirming good generalization.</a:t>
            </a:r>
          </a:p>
          <a:p>
            <a:pPr lvl="0" algn="l"/>
            <a:r>
              <a:rPr lang="en-IN" sz="2200" b="1" dirty="0"/>
              <a:t>Training Loss:</a:t>
            </a:r>
            <a:r>
              <a:rPr lang="en-IN" sz="2200" dirty="0"/>
              <a:t> Reduced steadily to </a:t>
            </a:r>
            <a:r>
              <a:rPr lang="en-IN" sz="2200" b="1" dirty="0"/>
              <a:t>0.15</a:t>
            </a:r>
            <a:r>
              <a:rPr lang="en-IN" sz="2200" dirty="0"/>
              <a:t>, indicating effective optimization.</a:t>
            </a:r>
          </a:p>
          <a:p>
            <a:pPr lvl="0" algn="l"/>
            <a:r>
              <a:rPr lang="en-IN" sz="2200" b="1" dirty="0"/>
              <a:t>Validation Loss:</a:t>
            </a:r>
            <a:r>
              <a:rPr lang="en-IN" sz="2200" dirty="0"/>
              <a:t> Plateaued around </a:t>
            </a:r>
            <a:r>
              <a:rPr lang="en-IN" sz="2200" b="1" dirty="0"/>
              <a:t>0.18</a:t>
            </a:r>
            <a:r>
              <a:rPr lang="en-IN" sz="2200" dirty="0"/>
              <a:t>, showing minimal overfitting.</a:t>
            </a:r>
          </a:p>
          <a:p>
            <a:pPr lvl="0" algn="l"/>
            <a:r>
              <a:rPr lang="en-IN" sz="2200" b="1" dirty="0"/>
              <a:t>Precision:</a:t>
            </a:r>
            <a:r>
              <a:rPr lang="en-IN" sz="2200" dirty="0"/>
              <a:t> Overall precision reached </a:t>
            </a:r>
            <a:r>
              <a:rPr lang="en-IN" sz="2200" b="1" dirty="0"/>
              <a:t>93.6%</a:t>
            </a:r>
            <a:r>
              <a:rPr lang="en-IN" sz="2200" dirty="0"/>
              <a:t>, ensuring reliable positive predictions.</a:t>
            </a:r>
          </a:p>
          <a:p>
            <a:pPr lvl="0" algn="l"/>
            <a:r>
              <a:rPr lang="en-IN" sz="2200" b="1" dirty="0"/>
              <a:t>Recall:</a:t>
            </a:r>
            <a:r>
              <a:rPr lang="en-IN" sz="2200" dirty="0"/>
              <a:t> Achieved </a:t>
            </a:r>
            <a:r>
              <a:rPr lang="en-IN" sz="2200" b="1" dirty="0"/>
              <a:t>92.8%</a:t>
            </a:r>
            <a:r>
              <a:rPr lang="en-IN" sz="2200" dirty="0"/>
              <a:t>, capturing most true cases across classes.</a:t>
            </a:r>
          </a:p>
          <a:p>
            <a:pPr lvl="0" algn="l"/>
            <a:r>
              <a:rPr lang="en-IN" sz="2200" b="1" dirty="0"/>
              <a:t>F1-Score:</a:t>
            </a:r>
            <a:r>
              <a:rPr lang="en-IN" sz="2200" dirty="0"/>
              <a:t> Balanced performance with </a:t>
            </a:r>
            <a:r>
              <a:rPr lang="en-IN" sz="2200" b="1" dirty="0"/>
              <a:t>93.2%</a:t>
            </a:r>
            <a:r>
              <a:rPr lang="en-IN" sz="2200" dirty="0"/>
              <a:t>, combining precision and recall.</a:t>
            </a:r>
          </a:p>
          <a:p>
            <a:pPr lvl="0" algn="l"/>
            <a:r>
              <a:rPr lang="en-IN" sz="2200" b="1" dirty="0"/>
              <a:t>Confusion Matrix:</a:t>
            </a:r>
            <a:r>
              <a:rPr lang="en-IN" sz="2200" dirty="0"/>
              <a:t> COVID-19 detection had </a:t>
            </a:r>
            <a:r>
              <a:rPr lang="en-IN" sz="2200" b="1" dirty="0"/>
              <a:t>95% TP rate</a:t>
            </a:r>
            <a:r>
              <a:rPr lang="en-IN" sz="2200" dirty="0"/>
              <a:t>, Pneumonia 91%, Normal 92%.</a:t>
            </a:r>
          </a:p>
          <a:p>
            <a:pPr lvl="0" algn="l"/>
            <a:r>
              <a:rPr lang="en-IN" sz="2200" b="1" dirty="0"/>
              <a:t>Class-wise Performance:</a:t>
            </a:r>
            <a:r>
              <a:rPr lang="en-IN" sz="2200" dirty="0"/>
              <a:t> COVID-19 class showed highest accuracy; Pneumonia vs Normal overlap caused minor misclassifications.</a:t>
            </a:r>
          </a:p>
          <a:p>
            <a:pPr lvl="0" algn="l"/>
            <a:r>
              <a:rPr lang="en-IN" sz="2200" b="1" dirty="0"/>
              <a:t>Comparison with Baseline CNN:</a:t>
            </a:r>
            <a:r>
              <a:rPr lang="en-IN" sz="2200" dirty="0"/>
              <a:t> VGG16 outperformed CNN (87.2% vs 94.3% accuracy).</a:t>
            </a:r>
          </a:p>
          <a:p>
            <a:pPr lvl="0" algn="l"/>
            <a:r>
              <a:rPr lang="en-IN" sz="2200" b="1" dirty="0"/>
              <a:t>Effect of Augmentation:</a:t>
            </a:r>
            <a:r>
              <a:rPr lang="en-IN" sz="2200" dirty="0"/>
              <a:t> Improved robustness and reduced misclassification errors.</a:t>
            </a:r>
          </a:p>
          <a:p>
            <a:pPr lvl="0" algn="l"/>
            <a:r>
              <a:rPr lang="en-IN" sz="2200" b="1" dirty="0"/>
              <a:t>Transfer Learning Impact:</a:t>
            </a:r>
            <a:r>
              <a:rPr lang="en-IN" sz="2200" dirty="0"/>
              <a:t> Using VGG16 pre-trained weights boosted performance significantly compared to training from scratch.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781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2F93B1-678A-CABC-9F78-3DDACC9A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40" y="1625601"/>
            <a:ext cx="5811520" cy="3225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6FD602-4855-AD8F-6FD9-3A3930BDD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080" y="1554481"/>
            <a:ext cx="4818380" cy="321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604"/>
            <a:ext cx="4286251" cy="699796"/>
          </a:xfrm>
        </p:spPr>
        <p:txBody>
          <a:bodyPr/>
          <a:lstStyle/>
          <a:p>
            <a:pPr algn="r"/>
            <a:r>
              <a:rPr lang="en-IN" dirty="0"/>
              <a:t>Training &amp; Evolution: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820" y="1212979"/>
            <a:ext cx="10898156" cy="4814597"/>
          </a:xfrm>
        </p:spPr>
        <p:txBody>
          <a:bodyPr/>
          <a:lstStyle/>
          <a:p>
            <a:r>
              <a:rPr lang="en-IN" b="1" dirty="0"/>
              <a:t>🏋️ Training</a:t>
            </a:r>
          </a:p>
          <a:p>
            <a:pPr marL="0" lvl="0" indent="0">
              <a:buNone/>
            </a:pPr>
            <a:r>
              <a:rPr lang="en-IN" b="1" dirty="0"/>
              <a:t>1. Model Used:</a:t>
            </a:r>
            <a:r>
              <a:rPr lang="en-IN" dirty="0"/>
              <a:t> VGG16 pre-trained on ImageNet, fine-tuned for chest X-ray classification.</a:t>
            </a:r>
          </a:p>
          <a:p>
            <a:pPr marL="0" lvl="0" indent="0">
              <a:buNone/>
            </a:pPr>
            <a:r>
              <a:rPr lang="en-IN" b="1" dirty="0"/>
              <a:t>2. Input Size:</a:t>
            </a:r>
            <a:r>
              <a:rPr lang="en-IN" dirty="0"/>
              <a:t> Images resized to </a:t>
            </a:r>
            <a:r>
              <a:rPr lang="en-IN" b="1" dirty="0"/>
              <a:t>224×224 pixels</a:t>
            </a:r>
            <a:r>
              <a:rPr lang="en-IN" dirty="0"/>
              <a:t>.</a:t>
            </a:r>
          </a:p>
          <a:p>
            <a:pPr marL="0" lvl="0" indent="0">
              <a:buNone/>
            </a:pPr>
            <a:r>
              <a:rPr lang="en-IN" b="1" dirty="0"/>
              <a:t>3. Batch Size:</a:t>
            </a:r>
            <a:r>
              <a:rPr lang="en-IN" dirty="0"/>
              <a:t> 32 images per batch for efficient training.</a:t>
            </a:r>
          </a:p>
          <a:p>
            <a:pPr marL="0" lvl="0" indent="0">
              <a:buNone/>
            </a:pPr>
            <a:r>
              <a:rPr lang="en-IN" b="1" dirty="0"/>
              <a:t>4. Optimizer:</a:t>
            </a:r>
            <a:r>
              <a:rPr lang="en-IN" dirty="0"/>
              <a:t> Adam optimizer with learning rate = 0.0001.</a:t>
            </a:r>
          </a:p>
          <a:p>
            <a:pPr marL="0" lvl="0" indent="0">
              <a:buNone/>
            </a:pPr>
            <a:r>
              <a:rPr lang="en-IN" b="1" dirty="0"/>
              <a:t>5. Loss Function:</a:t>
            </a:r>
            <a:r>
              <a:rPr lang="en-IN" dirty="0"/>
              <a:t> Categorical Cross-Entropy for multi-class classification.</a:t>
            </a:r>
          </a:p>
          <a:p>
            <a:pPr marL="0" lvl="0" indent="0">
              <a:buNone/>
            </a:pPr>
            <a:r>
              <a:rPr lang="en-IN" b="1" dirty="0"/>
              <a:t>6. Epochs:</a:t>
            </a:r>
            <a:r>
              <a:rPr lang="en-IN" dirty="0"/>
              <a:t> Trained for </a:t>
            </a:r>
            <a:r>
              <a:rPr lang="en-IN" b="1" dirty="0"/>
              <a:t>50 epochs</a:t>
            </a:r>
            <a:r>
              <a:rPr lang="en-IN" dirty="0"/>
              <a:t> until convergence.</a:t>
            </a:r>
          </a:p>
          <a:p>
            <a:pPr marL="0" lvl="0" indent="0">
              <a:buNone/>
            </a:pPr>
            <a:r>
              <a:rPr lang="en-IN" b="1" dirty="0"/>
              <a:t>7. Data Augmentation:</a:t>
            </a:r>
            <a:r>
              <a:rPr lang="en-IN" dirty="0"/>
              <a:t> Rotation, flipping, zooming, brightness adjustment to reduce overfitting.</a:t>
            </a:r>
          </a:p>
          <a:p>
            <a:pPr marL="0" lvl="0" indent="0">
              <a:buNone/>
            </a:pPr>
            <a:r>
              <a:rPr lang="en-IN" b="1" dirty="0"/>
              <a:t>8. Hardware:</a:t>
            </a:r>
            <a:r>
              <a:rPr lang="en-IN" dirty="0"/>
              <a:t> Training performed on GPU for faster computation.</a:t>
            </a:r>
          </a:p>
          <a:p>
            <a:pPr marL="0" lvl="0" indent="0">
              <a:buNone/>
            </a:pPr>
            <a:r>
              <a:rPr lang="en-IN" b="1" dirty="0"/>
              <a:t>9. Training Accuracy:</a:t>
            </a:r>
            <a:r>
              <a:rPr lang="en-IN" dirty="0"/>
              <a:t> Reached </a:t>
            </a:r>
            <a:r>
              <a:rPr lang="en-IN" b="1" dirty="0"/>
              <a:t>94.3%</a:t>
            </a:r>
            <a:r>
              <a:rPr lang="en-IN" dirty="0"/>
              <a:t> by the final epoch.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4E8E-A248-FF03-8DDF-9D63B6AF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3" y="298580"/>
            <a:ext cx="3461657" cy="578498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IN" b="1" dirty="0"/>
              <a:t>📈</a:t>
            </a:r>
            <a:r>
              <a:rPr lang="en-US" dirty="0"/>
              <a:t> Evolution: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1FCEB-80D2-F48F-3E4A-E186BC8FEC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4522" y="1035698"/>
            <a:ext cx="11038115" cy="5103845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Validation Accuracy:</a:t>
            </a:r>
            <a:r>
              <a:rPr lang="en-IN" dirty="0"/>
              <a:t> Stabilized at </a:t>
            </a:r>
            <a:r>
              <a:rPr lang="en-IN" b="1" dirty="0"/>
              <a:t>92%</a:t>
            </a:r>
            <a:r>
              <a:rPr lang="en-IN" dirty="0"/>
              <a:t>, confirming generalization.</a:t>
            </a:r>
          </a:p>
          <a:p>
            <a:pPr lvl="0"/>
            <a:r>
              <a:rPr lang="en-IN" b="1" dirty="0"/>
              <a:t>Validation Loss:</a:t>
            </a:r>
            <a:r>
              <a:rPr lang="en-IN" dirty="0"/>
              <a:t> Plateaued around </a:t>
            </a:r>
            <a:r>
              <a:rPr lang="en-IN" b="1" dirty="0"/>
              <a:t>0.18</a:t>
            </a:r>
            <a:r>
              <a:rPr lang="en-IN" dirty="0"/>
              <a:t>, showing minimal overfitting.</a:t>
            </a:r>
          </a:p>
          <a:p>
            <a:pPr lvl="0"/>
            <a:r>
              <a:rPr lang="en-IN" b="1" dirty="0"/>
              <a:t>Metrics Used:</a:t>
            </a:r>
            <a:r>
              <a:rPr lang="en-IN" dirty="0"/>
              <a:t> Accuracy, Precision, Recall, F1-Score.</a:t>
            </a:r>
          </a:p>
          <a:p>
            <a:pPr lvl="0"/>
            <a:r>
              <a:rPr lang="en-IN" b="1" dirty="0"/>
              <a:t>Precision:</a:t>
            </a:r>
            <a:r>
              <a:rPr lang="en-IN" dirty="0"/>
              <a:t> Achieved </a:t>
            </a:r>
            <a:r>
              <a:rPr lang="en-IN" b="1" dirty="0"/>
              <a:t>93.6%</a:t>
            </a:r>
            <a:r>
              <a:rPr lang="en-IN" dirty="0"/>
              <a:t>, ensuring reliable positive predictions.</a:t>
            </a:r>
          </a:p>
          <a:p>
            <a:pPr lvl="0"/>
            <a:r>
              <a:rPr lang="en-IN" b="1" dirty="0"/>
              <a:t>Recall:</a:t>
            </a:r>
            <a:r>
              <a:rPr lang="en-IN" dirty="0"/>
              <a:t> Achieved </a:t>
            </a:r>
            <a:r>
              <a:rPr lang="en-IN" b="1" dirty="0"/>
              <a:t>92.8%</a:t>
            </a:r>
            <a:r>
              <a:rPr lang="en-IN" dirty="0"/>
              <a:t>, capturing most true cases.</a:t>
            </a:r>
          </a:p>
          <a:p>
            <a:pPr lvl="0"/>
            <a:r>
              <a:rPr lang="en-IN" b="1" dirty="0"/>
              <a:t>F1-Score:</a:t>
            </a:r>
            <a:r>
              <a:rPr lang="en-IN" dirty="0"/>
              <a:t> Balanced performance at </a:t>
            </a:r>
            <a:r>
              <a:rPr lang="en-IN" b="1" dirty="0"/>
              <a:t>93.2%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Confusion Matrix:</a:t>
            </a:r>
            <a:endParaRPr lang="en-IN" dirty="0"/>
          </a:p>
          <a:p>
            <a:pPr lvl="1"/>
            <a:r>
              <a:rPr lang="en-IN" dirty="0"/>
              <a:t>COVID-19: TP = 95%, FN = 5%</a:t>
            </a:r>
          </a:p>
          <a:p>
            <a:pPr lvl="1"/>
            <a:r>
              <a:rPr lang="en-IN" dirty="0"/>
              <a:t>Pneumonia: TP = 91%, FN = 9%</a:t>
            </a:r>
          </a:p>
          <a:p>
            <a:pPr lvl="1"/>
            <a:r>
              <a:rPr lang="en-IN" dirty="0"/>
              <a:t>Normal: TP = 92%, FN = 8%</a:t>
            </a:r>
          </a:p>
          <a:p>
            <a:pPr lvl="0"/>
            <a:r>
              <a:rPr lang="en-IN" b="1" dirty="0"/>
              <a:t>Comparison:</a:t>
            </a:r>
            <a:r>
              <a:rPr lang="en-IN" dirty="0"/>
              <a:t> VGG16 outperformed baseline CNN (87.2% vs 94.3% accuracy).</a:t>
            </a:r>
          </a:p>
          <a:p>
            <a:pPr lvl="0"/>
            <a:r>
              <a:rPr lang="en-IN" b="1" dirty="0"/>
              <a:t>Final Outcome:</a:t>
            </a:r>
            <a:r>
              <a:rPr lang="en-IN" dirty="0"/>
              <a:t> Model reliably classifies X-rays into COVID-19, Pneumonia, and Normal.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19BA-C7D1-2E28-C8CE-B62BD4176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382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578498"/>
            <a:ext cx="8141146" cy="709126"/>
          </a:xfrm>
        </p:spPr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7118" y="1884784"/>
            <a:ext cx="10823511" cy="4460032"/>
          </a:xfrm>
        </p:spPr>
        <p:txBody>
          <a:bodyPr/>
          <a:lstStyle/>
          <a:p>
            <a:pPr lvl="0"/>
            <a:r>
              <a:rPr lang="en-IN" dirty="0"/>
              <a:t>1. Deep learning models can effectively detect COVID‑19 using chest X‑ray images.</a:t>
            </a:r>
          </a:p>
          <a:p>
            <a:pPr lvl="0"/>
            <a:r>
              <a:rPr lang="en-IN" dirty="0"/>
              <a:t>2.The proposed </a:t>
            </a:r>
            <a:r>
              <a:rPr lang="en-IN" b="1" dirty="0"/>
              <a:t>VGG16 transfer learning model</a:t>
            </a:r>
            <a:r>
              <a:rPr lang="en-IN" dirty="0"/>
              <a:t> achieved </a:t>
            </a:r>
            <a:r>
              <a:rPr lang="en-IN" b="1" dirty="0"/>
              <a:t>94.3% accuracy</a:t>
            </a:r>
            <a:r>
              <a:rPr lang="en-IN" dirty="0"/>
              <a:t>, outperforming baseline CNN.</a:t>
            </a:r>
          </a:p>
          <a:p>
            <a:pPr lvl="0"/>
            <a:r>
              <a:rPr lang="en-IN" dirty="0"/>
              <a:t>3.Preprocessing and augmentation improved robustness and reduced overfitting.</a:t>
            </a:r>
          </a:p>
          <a:p>
            <a:pPr lvl="0"/>
            <a:r>
              <a:rPr lang="en-IN" dirty="0"/>
              <a:t>4.Evaluation metrics (Precision, Recall, F1‑Score) confirmed strong and balanced performance.</a:t>
            </a:r>
          </a:p>
          <a:p>
            <a:pPr lvl="0"/>
            <a:r>
              <a:rPr lang="en-IN" dirty="0"/>
              <a:t>5.Confusion matrix analysis showed reliable classification with minimal errors.</a:t>
            </a:r>
          </a:p>
          <a:p>
            <a:pPr lvl="0"/>
            <a:r>
              <a:rPr lang="en-IN" dirty="0"/>
              <a:t>6.COVID‑19 detection was most accurate among all classes.</a:t>
            </a:r>
          </a:p>
          <a:p>
            <a:pPr lvl="0"/>
            <a:r>
              <a:rPr lang="en-IN" dirty="0"/>
              <a:t>7.Pneumonia vs Normal overlap remains a challenge for improvement.</a:t>
            </a:r>
          </a:p>
          <a:p>
            <a:pPr lvl="0"/>
            <a:r>
              <a:rPr lang="en-IN" dirty="0"/>
              <a:t>8.The methodology is scalable for real‑world medical applications.</a:t>
            </a:r>
          </a:p>
          <a:p>
            <a:pPr lvl="0"/>
            <a:r>
              <a:rPr lang="en-IN" dirty="0"/>
              <a:t>9.Overall, the system demonstrates the potential of AI in healthcare diagnostics.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1EBC-7512-833C-3313-717C5540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8580"/>
            <a:ext cx="7991857" cy="858416"/>
          </a:xfrm>
        </p:spPr>
        <p:txBody>
          <a:bodyPr/>
          <a:lstStyle/>
          <a:p>
            <a:r>
              <a:rPr lang="en-US" dirty="0"/>
              <a:t>Future Scope: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6D21A-0B8F-B80C-6F34-E367252B029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9837" y="1576873"/>
            <a:ext cx="10793962" cy="4002834"/>
          </a:xfrm>
        </p:spPr>
        <p:txBody>
          <a:bodyPr/>
          <a:lstStyle/>
          <a:p>
            <a:pPr lvl="0"/>
            <a:r>
              <a:rPr lang="en-IN" b="1" dirty="0"/>
              <a:t>Larger Datasets:</a:t>
            </a:r>
            <a:r>
              <a:rPr lang="en-IN" dirty="0"/>
              <a:t> Incorporate more diverse chest X‑ray images from global sources.</a:t>
            </a:r>
          </a:p>
          <a:p>
            <a:pPr lvl="0"/>
            <a:r>
              <a:rPr lang="en-IN" b="1" dirty="0"/>
              <a:t>Multimodal Imaging:</a:t>
            </a:r>
            <a:r>
              <a:rPr lang="en-IN" dirty="0"/>
              <a:t> Combine X‑ray with CT scans for improved accuracy.</a:t>
            </a:r>
          </a:p>
          <a:p>
            <a:pPr lvl="0"/>
            <a:r>
              <a:rPr lang="en-IN" b="1" dirty="0"/>
              <a:t>Clinical Validation:</a:t>
            </a:r>
            <a:r>
              <a:rPr lang="en-IN" dirty="0"/>
              <a:t> Collaborate with hospitals for real‑world testing and deployment.</a:t>
            </a:r>
          </a:p>
          <a:p>
            <a:pPr lvl="0"/>
            <a:r>
              <a:rPr lang="en-IN" b="1" dirty="0"/>
              <a:t>Explainable AI:</a:t>
            </a:r>
            <a:r>
              <a:rPr lang="en-IN" dirty="0"/>
              <a:t> Integrate visualization tools (heatmaps, Grad‑CAM) for transparency in predictions.</a:t>
            </a:r>
          </a:p>
          <a:p>
            <a:pPr lvl="0"/>
            <a:r>
              <a:rPr lang="en-IN" b="1" dirty="0"/>
              <a:t>Mobile/Cloud Deployment:</a:t>
            </a:r>
            <a:r>
              <a:rPr lang="en-IN" dirty="0"/>
              <a:t> Build lightweight models for use in rural or resource‑limited areas.</a:t>
            </a:r>
          </a:p>
          <a:p>
            <a:pPr lvl="0"/>
            <a:r>
              <a:rPr lang="en-IN" b="1" dirty="0"/>
              <a:t>Real‑time Screening:</a:t>
            </a:r>
            <a:r>
              <a:rPr lang="en-IN" dirty="0"/>
              <a:t> Develop systems for instant diagnosis in emergency settings.</a:t>
            </a:r>
          </a:p>
          <a:p>
            <a:pPr lvl="0"/>
            <a:r>
              <a:rPr lang="en-IN" b="1" dirty="0"/>
              <a:t>Integration with IoT:</a:t>
            </a:r>
            <a:r>
              <a:rPr lang="en-IN" dirty="0"/>
              <a:t> Connect with smart healthcare devices for automated monitoring.</a:t>
            </a:r>
          </a:p>
          <a:p>
            <a:pPr lvl="0"/>
            <a:r>
              <a:rPr lang="en-IN" b="1" dirty="0"/>
              <a:t>Expansion to Other Diseases:</a:t>
            </a:r>
            <a:r>
              <a:rPr lang="en-IN" dirty="0"/>
              <a:t> Extend methodology to detect tuberculosis, lung cancer, and other respiratory illnesses.</a:t>
            </a:r>
          </a:p>
          <a:p>
            <a:pPr lvl="0"/>
            <a:r>
              <a:rPr lang="en-IN" b="1" dirty="0"/>
              <a:t>Continuous Learning:</a:t>
            </a:r>
            <a:r>
              <a:rPr lang="en-IN" dirty="0"/>
              <a:t> Update models with new data to adapt to evolving medical scenarios.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BC0F4-BD67-9196-D7F7-5CD5A9D71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6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4" y="4159045"/>
            <a:ext cx="4098183" cy="1784554"/>
          </a:xfrm>
        </p:spPr>
        <p:txBody>
          <a:bodyPr/>
          <a:lstStyle/>
          <a:p>
            <a:r>
              <a:rPr lang="en-US" dirty="0"/>
              <a:t>             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B2F762F-3DC6-E091-AD85-2FA37132A10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75453" y="2394950"/>
            <a:ext cx="5332705" cy="2278519"/>
          </a:xfrm>
        </p:spPr>
      </p:pic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{F3A088BC-E571-4618-9B26-DCC018F4E6EF}TF1ed9553b-00c4-4092-846a-c8f7f2908f3beecd942f_win32-8e33096c3cfc</Template>
  <TotalTime>448</TotalTime>
  <Words>1334</Words>
  <Application>Microsoft Office PowerPoint</Application>
  <PresentationFormat>Widescreen</PresentationFormat>
  <Paragraphs>148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COVID-19 Detection from Chest X-Ray Images Using CNN and VGG16                                                                                                                                                    Name : S. Hasini                                                                                                                                                                          Roll No:2520030287                                                                                                                                                               Name : S. Vaibhava  Sree                                                                                                                                                                                              Roll No:2520030398</vt:lpstr>
      <vt:lpstr>Literature Survey:</vt:lpstr>
      <vt:lpstr>PowerPoint Presentation</vt:lpstr>
      <vt:lpstr>Introduction:</vt:lpstr>
      <vt:lpstr>Problem Statement &amp; objectives</vt:lpstr>
      <vt:lpstr>Datasets:</vt:lpstr>
      <vt:lpstr>Proposed Methodology</vt:lpstr>
      <vt:lpstr>EDA</vt:lpstr>
      <vt:lpstr>Model Architecture:</vt:lpstr>
      <vt:lpstr>Model Architecture:</vt:lpstr>
      <vt:lpstr>PowerPoint Presentation</vt:lpstr>
      <vt:lpstr>Result:</vt:lpstr>
      <vt:lpstr>PowerPoint Presentation</vt:lpstr>
      <vt:lpstr>Training &amp; Evolution:</vt:lpstr>
      <vt:lpstr>2. 📈 Evolution:</vt:lpstr>
      <vt:lpstr>Conclusion:</vt:lpstr>
      <vt:lpstr>Future Scope:</vt:lpstr>
      <vt:lpstr>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Hasini Reddy</dc:creator>
  <cp:lastModifiedBy>Hasini Reddy</cp:lastModifiedBy>
  <cp:revision>6</cp:revision>
  <dcterms:created xsi:type="dcterms:W3CDTF">2026-09-24T02:57:29Z</dcterms:created>
  <dcterms:modified xsi:type="dcterms:W3CDTF">2026-09-25T10:06:04Z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